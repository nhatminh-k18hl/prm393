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nh Nguyen Nhat" userId="d52f80f35569c825" providerId="LiveId" clId="{53D7A348-2877-40F4-8D8A-348B9CECE3D8}"/>
    <pc:docChg chg="modSld">
      <pc:chgData name="Minh Nguyen Nhat" userId="d52f80f35569c825" providerId="LiveId" clId="{53D7A348-2877-40F4-8D8A-348B9CECE3D8}" dt="2026-06-29T09:07:05.785" v="6" actId="20577"/>
      <pc:docMkLst>
        <pc:docMk/>
      </pc:docMkLst>
      <pc:sldChg chg="modSp mod">
        <pc:chgData name="Minh Nguyen Nhat" userId="d52f80f35569c825" providerId="LiveId" clId="{53D7A348-2877-40F4-8D8A-348B9CECE3D8}" dt="2026-06-29T09:07:05.785" v="6" actId="20577"/>
        <pc:sldMkLst>
          <pc:docMk/>
          <pc:sldMk cId="0" sldId="256"/>
        </pc:sldMkLst>
        <pc:spChg chg="mod">
          <ac:chgData name="Minh Nguyen Nhat" userId="d52f80f35569c825" providerId="LiveId" clId="{53D7A348-2877-40F4-8D8A-348B9CECE3D8}" dt="2026-06-29T09:07:05.785" v="6" actId="20577"/>
          <ac:spMkLst>
            <pc:docMk/>
            <pc:sldMk cId="0" sldId="256"/>
            <ac:spMk id="2" creationId="{00000000-0000-0000-0000-000000000000}"/>
          </ac:spMkLst>
        </pc:spChg>
        <pc:spChg chg="mod">
          <ac:chgData name="Minh Nguyen Nhat" userId="d52f80f35569c825" providerId="LiveId" clId="{53D7A348-2877-40F4-8D8A-348B9CECE3D8}" dt="2026-06-29T09:05:31.274" v="5" actId="20577"/>
          <ac:spMkLst>
            <pc:docMk/>
            <pc:sldMk cId="0" sldId="256"/>
            <ac:spMk id="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768734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57200" y="1645920"/>
            <a:ext cx="8229600" cy="1097280"/>
          </a:xfrm>
          <a:prstGeom prst="rect">
            <a:avLst/>
          </a:prstGeom>
          <a:noFill/>
          <a:ln/>
        </p:spPr>
        <p:txBody>
          <a:bodyPr wrap="square" rtlCol="0" anchor="ctr"/>
          <a:lstStyle/>
          <a:p>
            <a:pPr marL="0" indent="0" algn="ctr">
              <a:buNone/>
            </a:pPr>
            <a:r>
              <a:rPr lang="en-US" sz="2600" b="1" dirty="0">
                <a:solidFill>
                  <a:srgbClr val="0F172A"/>
                </a:solidFill>
                <a:latin typeface="Arial" pitchFamily="34" charset="0"/>
                <a:ea typeface="Arial" pitchFamily="34" charset="-122"/>
                <a:cs typeface="Arial" pitchFamily="34" charset="-120"/>
              </a:rPr>
              <a:t>ỨNG DỤNG ĐỌC </a:t>
            </a:r>
            <a:r>
              <a:rPr lang="en-US" sz="2600" b="1">
                <a:solidFill>
                  <a:srgbClr val="0F172A"/>
                </a:solidFill>
                <a:latin typeface="Arial" pitchFamily="34" charset="0"/>
                <a:ea typeface="Arial" pitchFamily="34" charset="-122"/>
                <a:cs typeface="Arial" pitchFamily="34" charset="-120"/>
              </a:rPr>
              <a:t>TRUYỆN (</a:t>
            </a:r>
            <a:r>
              <a:rPr lang="en-US" sz="2600" b="1" dirty="0">
                <a:solidFill>
                  <a:srgbClr val="0F172A"/>
                </a:solidFill>
                <a:latin typeface="Arial" pitchFamily="34" charset="0"/>
                <a:ea typeface="Arial" pitchFamily="34" charset="-122"/>
                <a:cs typeface="Arial" pitchFamily="34" charset="-120"/>
              </a:rPr>
              <a:t>NOVEL READER APP)</a:t>
            </a:r>
            <a:endParaRPr lang="en-US" sz="2600" dirty="0"/>
          </a:p>
        </p:txBody>
      </p:sp>
      <p:sp>
        <p:nvSpPr>
          <p:cNvPr id="3" name="Text 1"/>
          <p:cNvSpPr/>
          <p:nvPr/>
        </p:nvSpPr>
        <p:spPr>
          <a:xfrm>
            <a:off x="457200" y="2743200"/>
            <a:ext cx="8229600" cy="731520"/>
          </a:xfrm>
          <a:prstGeom prst="rect">
            <a:avLst/>
          </a:prstGeom>
          <a:noFill/>
          <a:ln/>
        </p:spPr>
        <p:txBody>
          <a:bodyPr wrap="square" rtlCol="0" anchor="ctr"/>
          <a:lstStyle/>
          <a:p>
            <a:pPr marL="0" indent="0" algn="ctr">
              <a:buNone/>
            </a:pPr>
            <a:r>
              <a:rPr lang="en-US" sz="1600" i="1" dirty="0">
                <a:solidFill>
                  <a:srgbClr val="475569"/>
                </a:solidFill>
                <a:latin typeface="Georgia" pitchFamily="34" charset="0"/>
                <a:ea typeface="Georgia" pitchFamily="34" charset="-122"/>
                <a:cs typeface="Georgia" pitchFamily="34" charset="-120"/>
              </a:rPr>
              <a:t>Tính năng: Đồng bộ hóa Giao diện </a:t>
            </a:r>
            <a:r>
              <a:rPr lang="en-US" sz="1600" i="1" dirty="0" err="1">
                <a:solidFill>
                  <a:srgbClr val="475569"/>
                </a:solidFill>
                <a:latin typeface="Georgia" pitchFamily="34" charset="0"/>
                <a:ea typeface="Georgia" pitchFamily="34" charset="-122"/>
                <a:cs typeface="Georgia" pitchFamily="34" charset="-120"/>
              </a:rPr>
              <a:t>theo</a:t>
            </a:r>
            <a:r>
              <a:rPr lang="en-US" sz="1600" i="1" dirty="0">
                <a:solidFill>
                  <a:srgbClr val="475569"/>
                </a:solidFill>
                <a:latin typeface="Georgia" pitchFamily="34" charset="0"/>
                <a:ea typeface="Georgia" pitchFamily="34" charset="-122"/>
                <a:cs typeface="Georgia" pitchFamily="34" charset="-120"/>
              </a:rPr>
              <a:t> Vibe </a:t>
            </a:r>
            <a:r>
              <a:rPr lang="en-US" sz="1600" i="1" dirty="0" err="1">
                <a:solidFill>
                  <a:srgbClr val="475569"/>
                </a:solidFill>
                <a:latin typeface="Georgia" pitchFamily="34" charset="0"/>
                <a:ea typeface="Georgia" pitchFamily="34" charset="-122"/>
                <a:cs typeface="Georgia" pitchFamily="34" charset="-120"/>
              </a:rPr>
              <a:t>Tác</a:t>
            </a:r>
            <a:r>
              <a:rPr lang="en-US" sz="1600" i="1" dirty="0">
                <a:solidFill>
                  <a:srgbClr val="475569"/>
                </a:solidFill>
                <a:latin typeface="Georgia" pitchFamily="34" charset="0"/>
                <a:ea typeface="Georgia" pitchFamily="34" charset="-122"/>
                <a:cs typeface="Georgia" pitchFamily="34" charset="-120"/>
              </a:rPr>
              <a:t> phẩm (Book Sync Theme)</a:t>
            </a:r>
            <a:endParaRPr lang="en-US" sz="1600" dirty="0"/>
          </a:p>
        </p:txBody>
      </p:sp>
      <p:sp>
        <p:nvSpPr>
          <p:cNvPr id="4" name="Text 2"/>
          <p:cNvSpPr/>
          <p:nvPr/>
        </p:nvSpPr>
        <p:spPr>
          <a:xfrm>
            <a:off x="457200" y="4389120"/>
            <a:ext cx="8229600" cy="457200"/>
          </a:xfrm>
          <a:prstGeom prst="rect">
            <a:avLst/>
          </a:prstGeom>
          <a:noFill/>
          <a:ln/>
        </p:spPr>
        <p:txBody>
          <a:bodyPr wrap="square" rtlCol="0" anchor="ctr"/>
          <a:lstStyle/>
          <a:p>
            <a:pPr marL="0" indent="0" algn="ctr">
              <a:buNone/>
            </a:pPr>
            <a:r>
              <a:rPr lang="en-US" sz="1500" b="1" dirty="0">
                <a:solidFill>
                  <a:srgbClr val="0284C7"/>
                </a:solidFill>
                <a:latin typeface="Arial" pitchFamily="34" charset="0"/>
                <a:ea typeface="Arial" pitchFamily="34" charset="-122"/>
                <a:cs typeface="Arial" pitchFamily="34" charset="-120"/>
              </a:rPr>
              <a:t>Sinh viên thực hiện: Nguyễn Nhật Minh - HE186934</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731520"/>
          </a:xfrm>
          <a:prstGeom prst="rect">
            <a:avLst/>
          </a:prstGeom>
          <a:noFill/>
          <a:ln/>
        </p:spPr>
        <p:txBody>
          <a:bodyPr wrap="square" rtlCol="0" anchor="ctr"/>
          <a:lstStyle/>
          <a:p>
            <a:pPr marL="0" indent="0">
              <a:buNone/>
            </a:pPr>
            <a:r>
              <a:rPr lang="en-US" sz="2200" b="1" dirty="0">
                <a:solidFill>
                  <a:srgbClr val="00FFCC"/>
                </a:solidFill>
                <a:latin typeface="Arial" pitchFamily="34" charset="0"/>
                <a:ea typeface="Arial" pitchFamily="34" charset="-122"/>
                <a:cs typeface="Arial" pitchFamily="34" charset="-120"/>
              </a:rPr>
              <a:t>THEME 1 - HỒ ĐIỆP VÀ KÌNH NGƯ (HOÀN MỸ ĐẬM ĐÀ)</a:t>
            </a:r>
            <a:endParaRPr lang="en-US" sz="2200" dirty="0"/>
          </a:p>
        </p:txBody>
      </p:sp>
      <p:sp>
        <p:nvSpPr>
          <p:cNvPr id="3" name="Shape 1"/>
          <p:cNvSpPr/>
          <p:nvPr/>
        </p:nvSpPr>
        <p:spPr>
          <a:xfrm>
            <a:off x="457200" y="1005840"/>
            <a:ext cx="1828800" cy="36576"/>
          </a:xfrm>
          <a:prstGeom prst="rect">
            <a:avLst/>
          </a:prstGeom>
          <a:solidFill>
            <a:srgbClr val="00FFCC"/>
          </a:solidFill>
          <a:ln/>
        </p:spPr>
        <p:txBody>
          <a:bodyPr/>
          <a:lstStyle/>
          <a:p>
            <a:endParaRPr lang="en-US"/>
          </a:p>
        </p:txBody>
      </p:sp>
      <p:sp>
        <p:nvSpPr>
          <p:cNvPr id="4" name="Text 2"/>
          <p:cNvSpPr/>
          <p:nvPr/>
        </p:nvSpPr>
        <p:spPr>
          <a:xfrm>
            <a:off x="457200" y="1371600"/>
            <a:ext cx="8229600" cy="3657600"/>
          </a:xfrm>
          <a:prstGeom prst="rect">
            <a:avLst/>
          </a:prstGeom>
          <a:noFill/>
          <a:ln/>
        </p:spPr>
        <p:txBody>
          <a:bodyPr wrap="square" rtlCol="0" anchor="ctr"/>
          <a:lstStyle/>
          <a:p>
            <a:pPr marL="0" indent="0">
              <a:lnSpc>
                <a:spcPts val="2200"/>
              </a:lnSpc>
              <a:buNone/>
            </a:pPr>
            <a:r>
              <a:rPr lang="en-US" sz="1400" b="1" dirty="0">
                <a:solidFill>
                  <a:srgbClr val="00FFCC"/>
                </a:solidFill>
                <a:latin typeface="Arial" pitchFamily="34" charset="0"/>
                <a:ea typeface="Arial" pitchFamily="34" charset="-122"/>
                <a:cs typeface="Arial" pitchFamily="34" charset="-120"/>
              </a:rPr>
              <a:t>• Tone màu: </a:t>
            </a:r>
            <a:r>
              <a:rPr lang="en-US" sz="1400" dirty="0">
                <a:solidFill>
                  <a:srgbClr val="E2E8F0"/>
                </a:solidFill>
                <a:latin typeface="Arial" pitchFamily="34" charset="0"/>
                <a:ea typeface="Arial" pitchFamily="34" charset="-122"/>
                <a:cs typeface="Arial" pitchFamily="34" charset="-120"/>
              </a:rPr>
              <a:t>Gradient Xanh biển sâu sang Tím huyền ảo (0xFF0F172A đến 0xFF1E1E2E).
</a:t>
            </a:r>
            <a:r>
              <a:rPr lang="en-US" sz="1400" b="1" dirty="0">
                <a:solidFill>
                  <a:srgbClr val="00FFCC"/>
                </a:solidFill>
                <a:latin typeface="Arial" pitchFamily="34" charset="0"/>
                <a:ea typeface="Arial" pitchFamily="34" charset="-122"/>
                <a:cs typeface="Arial" pitchFamily="34" charset="-120"/>
              </a:rPr>
              <a:t>• Hạt động nền: </a:t>
            </a:r>
            <a:r>
              <a:rPr lang="en-US" sz="1400" dirty="0">
                <a:solidFill>
                  <a:srgbClr val="E2E8F0"/>
                </a:solidFill>
                <a:latin typeface="Arial" pitchFamily="34" charset="0"/>
                <a:ea typeface="Arial" pitchFamily="34" charset="-122"/>
                <a:cs typeface="Arial" pitchFamily="34" charset="-120"/>
              </a:rPr>
              <a:t>Hệ thống bong bóng sủi bọt trồi lên (BUBBLES) chìm mờ ảo.
</a:t>
            </a:r>
            <a:r>
              <a:rPr lang="en-US" sz="1400" b="1" dirty="0">
                <a:solidFill>
                  <a:srgbClr val="00FFCC"/>
                </a:solidFill>
                <a:latin typeface="Arial" pitchFamily="34" charset="0"/>
                <a:ea typeface="Arial" pitchFamily="34" charset="-122"/>
                <a:cs typeface="Arial" pitchFamily="34" charset="-120"/>
              </a:rPr>
              <a:t>• Hoạt họa chu kỳ: </a:t>
            </a:r>
            <a:r>
              <a:rPr lang="en-US" sz="1400" dirty="0">
                <a:solidFill>
                  <a:srgbClr val="E2E8F0"/>
                </a:solidFill>
                <a:latin typeface="Arial" pitchFamily="34" charset="0"/>
                <a:ea typeface="Arial" pitchFamily="34" charset="-122"/>
                <a:cs typeface="Arial" pitchFamily="34" charset="-120"/>
              </a:rPr>
              <a:t>Cá voi lớn / Cánh bướm lướt chìm chầm chậm qua trang đọc (sine wave transition).
</a:t>
            </a:r>
            <a:r>
              <a:rPr lang="en-US" sz="1400" b="1" dirty="0">
                <a:solidFill>
                  <a:srgbClr val="00FFCC"/>
                </a:solidFill>
                <a:latin typeface="Arial" pitchFamily="34" charset="0"/>
                <a:ea typeface="Arial" pitchFamily="34" charset="-122"/>
                <a:cs typeface="Arial" pitchFamily="34" charset="-120"/>
              </a:rPr>
              <a:t>• Bóc tách RegEx: </a:t>
            </a:r>
            <a:r>
              <a:rPr lang="en-US" sz="1400" dirty="0">
                <a:solidFill>
                  <a:srgbClr val="E2E8F0"/>
                </a:solidFill>
                <a:latin typeface="Arial" pitchFamily="34" charset="0"/>
                <a:ea typeface="Arial" pitchFamily="34" charset="-122"/>
                <a:cs typeface="Arial" pitchFamily="34" charset="-120"/>
              </a:rPr>
              <a:t>Quét tag [THEME:PEACE] (chữ xanh ngọc) và [THEME:HORROR] (nền đỏ sẫm, chữ tối).
</a:t>
            </a:r>
            <a:r>
              <a:rPr lang="en-US" sz="1400" b="1" dirty="0">
                <a:solidFill>
                  <a:srgbClr val="00FFCC"/>
                </a:solidFill>
                <a:latin typeface="Arial" pitchFamily="34" charset="0"/>
                <a:ea typeface="Arial" pitchFamily="34" charset="-122"/>
                <a:cs typeface="Arial" pitchFamily="34" charset="-120"/>
              </a:rPr>
              <a:t>• Trình bày chữ: </a:t>
            </a:r>
            <a:r>
              <a:rPr lang="en-US" sz="1400" dirty="0">
                <a:solidFill>
                  <a:srgbClr val="E2E8F0"/>
                </a:solidFill>
                <a:latin typeface="Arial" pitchFamily="34" charset="0"/>
                <a:ea typeface="Arial" pitchFamily="34" charset="-122"/>
                <a:cs typeface="Arial" pitchFamily="34" charset="-120"/>
              </a:rPr>
              <a:t>Đầu chương áp dụng Drop Cap phong cách văn học nghệ thuật.</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3E0"/>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731520"/>
          </a:xfrm>
          <a:prstGeom prst="rect">
            <a:avLst/>
          </a:prstGeom>
          <a:noFill/>
          <a:ln/>
        </p:spPr>
        <p:txBody>
          <a:bodyPr wrap="square" rtlCol="0" anchor="ctr"/>
          <a:lstStyle/>
          <a:p>
            <a:pPr marL="0" indent="0">
              <a:buNone/>
            </a:pPr>
            <a:r>
              <a:rPr lang="en-US" sz="2200" b="1" dirty="0">
                <a:solidFill>
                  <a:srgbClr val="EA580C"/>
                </a:solidFill>
                <a:latin typeface="Arial" pitchFamily="34" charset="0"/>
                <a:ea typeface="Arial" pitchFamily="34" charset="-122"/>
                <a:cs typeface="Arial" pitchFamily="34" charset="-120"/>
              </a:rPr>
              <a:t>THEME 2 - NGÕ NGÔ ĐỒNG (CỔ KÍNH TRẦM LẶNG)</a:t>
            </a:r>
            <a:endParaRPr lang="en-US" sz="2200" dirty="0"/>
          </a:p>
        </p:txBody>
      </p:sp>
      <p:sp>
        <p:nvSpPr>
          <p:cNvPr id="3" name="Shape 1"/>
          <p:cNvSpPr/>
          <p:nvPr/>
        </p:nvSpPr>
        <p:spPr>
          <a:xfrm>
            <a:off x="457200" y="1005840"/>
            <a:ext cx="1828800" cy="36576"/>
          </a:xfrm>
          <a:prstGeom prst="rect">
            <a:avLst/>
          </a:prstGeom>
          <a:solidFill>
            <a:srgbClr val="EA580C"/>
          </a:solidFill>
          <a:ln/>
        </p:spPr>
        <p:txBody>
          <a:bodyPr/>
          <a:lstStyle/>
          <a:p>
            <a:endParaRPr lang="en-US"/>
          </a:p>
        </p:txBody>
      </p:sp>
      <p:sp>
        <p:nvSpPr>
          <p:cNvPr id="4" name="Text 2"/>
          <p:cNvSpPr/>
          <p:nvPr/>
        </p:nvSpPr>
        <p:spPr>
          <a:xfrm>
            <a:off x="457200" y="1371600"/>
            <a:ext cx="8229600" cy="3657600"/>
          </a:xfrm>
          <a:prstGeom prst="rect">
            <a:avLst/>
          </a:prstGeom>
          <a:noFill/>
          <a:ln/>
        </p:spPr>
        <p:txBody>
          <a:bodyPr wrap="square" rtlCol="0" anchor="ctr"/>
          <a:lstStyle/>
          <a:p>
            <a:pPr marL="0" indent="0">
              <a:lnSpc>
                <a:spcPts val="2200"/>
              </a:lnSpc>
              <a:buNone/>
            </a:pPr>
            <a:r>
              <a:rPr lang="en-US" sz="1400" b="1" dirty="0">
                <a:solidFill>
                  <a:srgbClr val="EA580C"/>
                </a:solidFill>
                <a:latin typeface="Arial" pitchFamily="34" charset="0"/>
                <a:ea typeface="Arial" pitchFamily="34" charset="-122"/>
                <a:cs typeface="Arial" pitchFamily="34" charset="-120"/>
              </a:rPr>
              <a:t>• Tone màu: </a:t>
            </a:r>
            <a:r>
              <a:rPr lang="en-US" sz="1400" dirty="0">
                <a:solidFill>
                  <a:srgbClr val="5C4033"/>
                </a:solidFill>
                <a:latin typeface="Arial" pitchFamily="34" charset="0"/>
                <a:ea typeface="Arial" pitchFamily="34" charset="-122"/>
                <a:cs typeface="Arial" pitchFamily="34" charset="-120"/>
              </a:rPr>
              <a:t>Gradient vàng cát Sepia giả giấy da cổ kính (0xFFFAF3E0 đến 0xFFFFFBEB).
</a:t>
            </a:r>
            <a:r>
              <a:rPr lang="en-US" sz="1400" b="1" dirty="0">
                <a:solidFill>
                  <a:srgbClr val="EA580C"/>
                </a:solidFill>
                <a:latin typeface="Arial" pitchFamily="34" charset="0"/>
                <a:ea typeface="Arial" pitchFamily="34" charset="-122"/>
                <a:cs typeface="Arial" pitchFamily="34" charset="-120"/>
              </a:rPr>
              <a:t>• Hạt động nền: </a:t>
            </a:r>
            <a:r>
              <a:rPr lang="en-US" sz="1400" dirty="0">
                <a:solidFill>
                  <a:srgbClr val="5C4033"/>
                </a:solidFill>
                <a:latin typeface="Arial" pitchFamily="34" charset="0"/>
                <a:ea typeface="Arial" pitchFamily="34" charset="-122"/>
                <a:cs typeface="Arial" pitchFamily="34" charset="-120"/>
              </a:rPr>
              <a:t>Lá ngô đồng rơi chao lượn bay lãng mạn mùa thu (LEAVES).
</a:t>
            </a:r>
            <a:r>
              <a:rPr lang="en-US" sz="1400" b="1" dirty="0">
                <a:solidFill>
                  <a:srgbClr val="EA580C"/>
                </a:solidFill>
                <a:latin typeface="Arial" pitchFamily="34" charset="0"/>
                <a:ea typeface="Arial" pitchFamily="34" charset="-122"/>
                <a:cs typeface="Arial" pitchFamily="34" charset="-120"/>
              </a:rPr>
              <a:t>• Hoạt họa chu kỳ: </a:t>
            </a:r>
            <a:r>
              <a:rPr lang="en-US" sz="1400" dirty="0">
                <a:solidFill>
                  <a:srgbClr val="5C4033"/>
                </a:solidFill>
                <a:latin typeface="Arial" pitchFamily="34" charset="0"/>
                <a:ea typeface="Arial" pitchFamily="34" charset="-122"/>
                <a:cs typeface="Arial" pitchFamily="34" charset="-120"/>
              </a:rPr>
              <a:t>Lá phong lớn cách điệu xoay tròn lướt chéo từ trên xuống dưới màn hình (Matrix Rotation).
</a:t>
            </a:r>
            <a:r>
              <a:rPr lang="en-US" sz="1400" b="1" dirty="0">
                <a:solidFill>
                  <a:srgbClr val="EA580C"/>
                </a:solidFill>
                <a:latin typeface="Arial" pitchFamily="34" charset="0"/>
                <a:ea typeface="Arial" pitchFamily="34" charset="-122"/>
                <a:cs typeface="Arial" pitchFamily="34" charset="-120"/>
              </a:rPr>
              <a:t>• Phòng thủ dữ liệu: </a:t>
            </a:r>
            <a:r>
              <a:rPr lang="en-US" sz="1400" dirty="0">
                <a:solidFill>
                  <a:srgbClr val="5C4033"/>
                </a:solidFill>
                <a:latin typeface="Arial" pitchFamily="34" charset="0"/>
                <a:ea typeface="Arial" pitchFamily="34" charset="-122"/>
                <a:cs typeface="Arial" pitchFamily="34" charset="-120"/>
              </a:rPr>
              <a:t>Click chương trống (từ chương 4 trở đi) hiển thị Canvas nghệ thuật vẽ bóng cây ngô đồng kèm thông báo: 'Dưới bóng ngô đồng già, câu chuyện tạm thời dừng lại...', ngăn chặn lỗi màn hình trắng.</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8ECE9"/>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731520"/>
          </a:xfrm>
          <a:prstGeom prst="rect">
            <a:avLst/>
          </a:prstGeom>
          <a:noFill/>
          <a:ln/>
        </p:spPr>
        <p:txBody>
          <a:bodyPr wrap="square" rtlCol="0" anchor="ctr"/>
          <a:lstStyle/>
          <a:p>
            <a:pPr marL="0" indent="0">
              <a:buNone/>
            </a:pPr>
            <a:r>
              <a:rPr lang="en-US" sz="2200" b="1" dirty="0">
                <a:solidFill>
                  <a:srgbClr val="526E52"/>
                </a:solidFill>
                <a:latin typeface="Arial" pitchFamily="34" charset="0"/>
                <a:ea typeface="Arial" pitchFamily="34" charset="-122"/>
                <a:cs typeface="Arial" pitchFamily="34" charset="-120"/>
              </a:rPr>
              <a:t>THEME 3 - HÀ THANH HẢI YẾN (THANH TAO DỊU MÁT)</a:t>
            </a:r>
            <a:endParaRPr lang="en-US" sz="2200" dirty="0"/>
          </a:p>
        </p:txBody>
      </p:sp>
      <p:sp>
        <p:nvSpPr>
          <p:cNvPr id="3" name="Shape 1"/>
          <p:cNvSpPr/>
          <p:nvPr/>
        </p:nvSpPr>
        <p:spPr>
          <a:xfrm>
            <a:off x="457200" y="1005840"/>
            <a:ext cx="1828800" cy="36576"/>
          </a:xfrm>
          <a:prstGeom prst="rect">
            <a:avLst/>
          </a:prstGeom>
          <a:solidFill>
            <a:srgbClr val="526E52"/>
          </a:solidFill>
          <a:ln/>
        </p:spPr>
        <p:txBody>
          <a:bodyPr/>
          <a:lstStyle/>
          <a:p>
            <a:endParaRPr lang="en-US"/>
          </a:p>
        </p:txBody>
      </p:sp>
      <p:sp>
        <p:nvSpPr>
          <p:cNvPr id="4" name="Text 2"/>
          <p:cNvSpPr/>
          <p:nvPr/>
        </p:nvSpPr>
        <p:spPr>
          <a:xfrm>
            <a:off x="457200" y="1371600"/>
            <a:ext cx="8229600" cy="3657600"/>
          </a:xfrm>
          <a:prstGeom prst="rect">
            <a:avLst/>
          </a:prstGeom>
          <a:noFill/>
          <a:ln/>
        </p:spPr>
        <p:txBody>
          <a:bodyPr wrap="square" rtlCol="0" anchor="ctr"/>
          <a:lstStyle/>
          <a:p>
            <a:pPr marL="0" indent="0">
              <a:lnSpc>
                <a:spcPts val="2200"/>
              </a:lnSpc>
              <a:buNone/>
            </a:pPr>
            <a:r>
              <a:rPr lang="en-US" sz="1400" b="1" dirty="0">
                <a:solidFill>
                  <a:srgbClr val="526E52"/>
                </a:solidFill>
                <a:latin typeface="Arial" pitchFamily="34" charset="0"/>
                <a:ea typeface="Arial" pitchFamily="34" charset="-122"/>
                <a:cs typeface="Arial" pitchFamily="34" charset="-120"/>
              </a:rPr>
              <a:t>• Tone màu: </a:t>
            </a:r>
            <a:r>
              <a:rPr lang="en-US" sz="1400" dirty="0">
                <a:solidFill>
                  <a:srgbClr val="2C3E2B"/>
                </a:solidFill>
                <a:latin typeface="Arial" pitchFamily="34" charset="0"/>
                <a:ea typeface="Arial" pitchFamily="34" charset="-122"/>
                <a:cs typeface="Arial" pitchFamily="34" charset="-120"/>
              </a:rPr>
              <a:t>Gradient Ngọc bích sương mù dịu mát (0xFFE8ECE9 đến 0xFFF0F4F1).
</a:t>
            </a:r>
            <a:r>
              <a:rPr lang="en-US" sz="1400" b="1" dirty="0">
                <a:solidFill>
                  <a:srgbClr val="526E52"/>
                </a:solidFill>
                <a:latin typeface="Arial" pitchFamily="34" charset="0"/>
                <a:ea typeface="Arial" pitchFamily="34" charset="-122"/>
                <a:cs typeface="Arial" pitchFamily="34" charset="-120"/>
              </a:rPr>
              <a:t>• Hạt động nền: </a:t>
            </a:r>
            <a:r>
              <a:rPr lang="en-US" sz="1400" dirty="0">
                <a:solidFill>
                  <a:srgbClr val="2C3E2B"/>
                </a:solidFill>
                <a:latin typeface="Arial" pitchFamily="34" charset="0"/>
                <a:ea typeface="Arial" pitchFamily="34" charset="-122"/>
                <a:cs typeface="Arial" pitchFamily="34" charset="-120"/>
              </a:rPr>
              <a:t>Bóng chim hải yến nhỏ bay chao lượn mờ ảo (SWALLOWS).
</a:t>
            </a:r>
            <a:r>
              <a:rPr lang="en-US" sz="1400" b="1" dirty="0">
                <a:solidFill>
                  <a:srgbClr val="526E52"/>
                </a:solidFill>
                <a:latin typeface="Arial" pitchFamily="34" charset="0"/>
                <a:ea typeface="Arial" pitchFamily="34" charset="-122"/>
                <a:cs typeface="Arial" pitchFamily="34" charset="-120"/>
              </a:rPr>
              <a:t>• Hoạt họa chu kỳ: </a:t>
            </a:r>
            <a:r>
              <a:rPr lang="en-US" sz="1400" dirty="0">
                <a:solidFill>
                  <a:srgbClr val="2C3E2B"/>
                </a:solidFill>
                <a:latin typeface="Arial" pitchFamily="34" charset="0"/>
                <a:ea typeface="Arial" pitchFamily="34" charset="-122"/>
                <a:cs typeface="Arial" pitchFamily="34" charset="-120"/>
              </a:rPr>
              <a:t>Bóng chim hải yến đơn độc khổng lồ sải cánh lướt nhanh góc nghiêng qua trang sách.
</a:t>
            </a:r>
            <a:r>
              <a:rPr lang="en-US" sz="1400" b="1" dirty="0">
                <a:solidFill>
                  <a:srgbClr val="526E52"/>
                </a:solidFill>
                <a:latin typeface="Arial" pitchFamily="34" charset="0"/>
                <a:ea typeface="Arial" pitchFamily="34" charset="-122"/>
                <a:cs typeface="Arial" pitchFamily="34" charset="-120"/>
              </a:rPr>
              <a:t>• Elegant Empty State: </a:t>
            </a:r>
            <a:r>
              <a:rPr lang="en-US" sz="1400" dirty="0">
                <a:solidFill>
                  <a:srgbClr val="2C3E2B"/>
                </a:solidFill>
                <a:latin typeface="Arial" pitchFamily="34" charset="0"/>
                <a:ea typeface="Arial" pitchFamily="34" charset="-122"/>
                <a:cs typeface="Arial" pitchFamily="34" charset="-120"/>
              </a:rPr>
              <a:t>Khi click vào bất kỳ chương nào, hiển thị trang trống nghệ thuật có icon trái tim thanh mảnh và thông báo: 'Nơi bến đỗ bình an đang được tạo tác, Đường Hà Thanh và Chu Hải Yến sẽ sớm hội ngộ...'.</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731520"/>
          </a:xfrm>
          <a:prstGeom prst="rect">
            <a:avLst/>
          </a:prstGeom>
          <a:noFill/>
          <a:ln/>
        </p:spPr>
        <p:txBody>
          <a:bodyPr wrap="square" rtlCol="0" anchor="ctr"/>
          <a:lstStyle/>
          <a:p>
            <a:pPr marL="0" indent="0">
              <a:buNone/>
            </a:pPr>
            <a:r>
              <a:rPr lang="en-US" sz="2200" b="1" dirty="0">
                <a:solidFill>
                  <a:srgbClr val="00FFCC"/>
                </a:solidFill>
                <a:latin typeface="Arial" pitchFamily="34" charset="0"/>
                <a:ea typeface="Arial" pitchFamily="34" charset="-122"/>
                <a:cs typeface="Arial" pitchFamily="34" charset="-120"/>
              </a:rPr>
              <a:t>THIẾT KẾ KIẾN TRÚC XẾP LỚP TRANG ĐỌC (STACK LAYERING)</a:t>
            </a:r>
            <a:endParaRPr lang="en-US" sz="2200" dirty="0"/>
          </a:p>
        </p:txBody>
      </p:sp>
      <p:sp>
        <p:nvSpPr>
          <p:cNvPr id="3" name="Shape 1"/>
          <p:cNvSpPr/>
          <p:nvPr/>
        </p:nvSpPr>
        <p:spPr>
          <a:xfrm>
            <a:off x="457200" y="1005840"/>
            <a:ext cx="1828800" cy="36576"/>
          </a:xfrm>
          <a:prstGeom prst="rect">
            <a:avLst/>
          </a:prstGeom>
          <a:solidFill>
            <a:srgbClr val="00FFCC"/>
          </a:solidFill>
          <a:ln/>
        </p:spPr>
        <p:txBody>
          <a:bodyPr/>
          <a:lstStyle/>
          <a:p>
            <a:endParaRPr lang="en-US"/>
          </a:p>
        </p:txBody>
      </p:sp>
      <p:sp>
        <p:nvSpPr>
          <p:cNvPr id="4" name="Text 2"/>
          <p:cNvSpPr/>
          <p:nvPr/>
        </p:nvSpPr>
        <p:spPr>
          <a:xfrm>
            <a:off x="457200" y="1188720"/>
            <a:ext cx="8229600" cy="457200"/>
          </a:xfrm>
          <a:prstGeom prst="rect">
            <a:avLst/>
          </a:prstGeom>
          <a:noFill/>
          <a:ln/>
        </p:spPr>
        <p:txBody>
          <a:bodyPr wrap="square" rtlCol="0" anchor="ctr"/>
          <a:lstStyle/>
          <a:p>
            <a:pPr marL="0" indent="0">
              <a:buNone/>
            </a:pPr>
            <a:r>
              <a:rPr lang="en-US" sz="1300" dirty="0">
                <a:solidFill>
                  <a:srgbClr val="E2E8F0"/>
                </a:solidFill>
                <a:latin typeface="Arial" pitchFamily="34" charset="0"/>
                <a:ea typeface="Arial" pitchFamily="34" charset="-122"/>
                <a:cs typeface="Arial" pitchFamily="34" charset="-120"/>
              </a:rPr>
              <a:t>Để hiển thị mượt mà không cản trở chữ đọc truyện, ReadingScreen xếp lớp 3 tầng:</a:t>
            </a:r>
            <a:endParaRPr lang="en-US" sz="1300" dirty="0"/>
          </a:p>
        </p:txBody>
      </p:sp>
      <p:sp>
        <p:nvSpPr>
          <p:cNvPr id="5" name="Shape 3"/>
          <p:cNvSpPr/>
          <p:nvPr/>
        </p:nvSpPr>
        <p:spPr>
          <a:xfrm>
            <a:off x="914400" y="1828800"/>
            <a:ext cx="7315200" cy="731520"/>
          </a:xfrm>
          <a:prstGeom prst="rect">
            <a:avLst/>
          </a:prstGeom>
          <a:solidFill>
            <a:srgbClr val="1E293B"/>
          </a:solidFill>
          <a:ln w="25400">
            <a:solidFill>
              <a:srgbClr val="0284C7"/>
            </a:solidFill>
            <a:prstDash val="solid"/>
          </a:ln>
        </p:spPr>
        <p:txBody>
          <a:bodyPr/>
          <a:lstStyle/>
          <a:p>
            <a:endParaRPr lang="en-US"/>
          </a:p>
        </p:txBody>
      </p:sp>
      <p:sp>
        <p:nvSpPr>
          <p:cNvPr id="6" name="Text 4"/>
          <p:cNvSpPr/>
          <p:nvPr/>
        </p:nvSpPr>
        <p:spPr>
          <a:xfrm>
            <a:off x="1097280" y="1828800"/>
            <a:ext cx="6949440" cy="731520"/>
          </a:xfrm>
          <a:prstGeom prst="rect">
            <a:avLst/>
          </a:prstGeom>
          <a:noFill/>
          <a:ln/>
        </p:spPr>
        <p:txBody>
          <a:bodyPr wrap="square" rtlCol="0" anchor="ctr"/>
          <a:lstStyle/>
          <a:p>
            <a:pPr marL="0" indent="0" algn="ctr">
              <a:buNone/>
            </a:pPr>
            <a:r>
              <a:rPr lang="en-US" sz="1200" dirty="0">
                <a:solidFill>
                  <a:srgbClr val="FFFFFF"/>
                </a:solidFill>
                <a:latin typeface="Arial" pitchFamily="34" charset="0"/>
                <a:ea typeface="Arial" pitchFamily="34" charset="-122"/>
                <a:cs typeface="Arial" pitchFamily="34" charset="-120"/>
              </a:rPr>
              <a:t>Tầng 1 (Dưới cùng): Gradient Nền Thích Ứng (Shifting Background)</a:t>
            </a:r>
            <a:endParaRPr lang="en-US" sz="1200" dirty="0"/>
          </a:p>
          <a:p>
            <a:pPr marL="0" indent="0" algn="ctr">
              <a:buNone/>
            </a:pPr>
            <a:r>
              <a:rPr lang="en-US" sz="1200" dirty="0">
                <a:solidFill>
                  <a:srgbClr val="FFFFFF"/>
                </a:solidFill>
                <a:latin typeface="Arial" pitchFamily="34" charset="0"/>
                <a:ea typeface="Arial" pitchFamily="34" charset="-122"/>
                <a:cs typeface="Arial" pitchFamily="34" charset="-120"/>
              </a:rPr>
              <a:t>Chuyển đổi màu sắc thích ứng theo vibe truyện hoặc chương đang đọc.</a:t>
            </a:r>
            <a:endParaRPr lang="en-US" sz="1200" dirty="0"/>
          </a:p>
        </p:txBody>
      </p:sp>
      <p:sp>
        <p:nvSpPr>
          <p:cNvPr id="7" name="Shape 5"/>
          <p:cNvSpPr/>
          <p:nvPr/>
        </p:nvSpPr>
        <p:spPr>
          <a:xfrm>
            <a:off x="914400" y="2834640"/>
            <a:ext cx="7315200" cy="731520"/>
          </a:xfrm>
          <a:prstGeom prst="rect">
            <a:avLst/>
          </a:prstGeom>
          <a:solidFill>
            <a:srgbClr val="0F172A"/>
          </a:solidFill>
          <a:ln w="25400">
            <a:solidFill>
              <a:srgbClr val="00FFCC"/>
            </a:solidFill>
            <a:prstDash val="solid"/>
          </a:ln>
        </p:spPr>
        <p:txBody>
          <a:bodyPr/>
          <a:lstStyle/>
          <a:p>
            <a:endParaRPr lang="en-US"/>
          </a:p>
        </p:txBody>
      </p:sp>
      <p:sp>
        <p:nvSpPr>
          <p:cNvPr id="8" name="Text 6"/>
          <p:cNvSpPr/>
          <p:nvPr/>
        </p:nvSpPr>
        <p:spPr>
          <a:xfrm>
            <a:off x="1097280" y="2834640"/>
            <a:ext cx="6949440" cy="731520"/>
          </a:xfrm>
          <a:prstGeom prst="rect">
            <a:avLst/>
          </a:prstGeom>
          <a:noFill/>
          <a:ln/>
        </p:spPr>
        <p:txBody>
          <a:bodyPr wrap="square" rtlCol="0" anchor="ctr"/>
          <a:lstStyle/>
          <a:p>
            <a:pPr marL="0" indent="0" algn="ctr">
              <a:buNone/>
            </a:pPr>
            <a:r>
              <a:rPr lang="en-US" sz="1200" dirty="0">
                <a:solidFill>
                  <a:srgbClr val="FFFFFF"/>
                </a:solidFill>
                <a:latin typeface="Arial" pitchFamily="34" charset="0"/>
                <a:ea typeface="Arial" pitchFamily="34" charset="-122"/>
                <a:cs typeface="Arial" pitchFamily="34" charset="-120"/>
              </a:rPr>
              <a:t>Tầng 2 (Ở giữa): Hoạt Họa Chìm (Math-Driven Particles &amp; Watermark Canvas)</a:t>
            </a:r>
            <a:endParaRPr lang="en-US" sz="1200" dirty="0"/>
          </a:p>
          <a:p>
            <a:pPr marL="0" indent="0" algn="ctr">
              <a:buNone/>
            </a:pPr>
            <a:r>
              <a:rPr lang="en-US" sz="1200" dirty="0">
                <a:solidFill>
                  <a:srgbClr val="FFFFFF"/>
                </a:solidFill>
                <a:latin typeface="Arial" pitchFamily="34" charset="0"/>
                <a:ea typeface="Arial" pitchFamily="34" charset="-122"/>
                <a:cs typeface="Arial" pitchFamily="34" charset="-120"/>
              </a:rPr>
              <a:t>Vẽ mờ hạt động và bóng mờ khổng lồ trên CustomPainter với Opacity cực thấp (0.015 - 0.02).</a:t>
            </a:r>
            <a:endParaRPr lang="en-US" sz="1200" dirty="0"/>
          </a:p>
        </p:txBody>
      </p:sp>
      <p:sp>
        <p:nvSpPr>
          <p:cNvPr id="9" name="Shape 7"/>
          <p:cNvSpPr/>
          <p:nvPr/>
        </p:nvSpPr>
        <p:spPr>
          <a:xfrm>
            <a:off x="914400" y="3840480"/>
            <a:ext cx="7315200" cy="731520"/>
          </a:xfrm>
          <a:prstGeom prst="rect">
            <a:avLst/>
          </a:prstGeom>
          <a:solidFill>
            <a:srgbClr val="1E1E2E"/>
          </a:solidFill>
          <a:ln w="25400">
            <a:solidFill>
              <a:srgbClr val="EA580C"/>
            </a:solidFill>
            <a:prstDash val="solid"/>
          </a:ln>
        </p:spPr>
        <p:txBody>
          <a:bodyPr/>
          <a:lstStyle/>
          <a:p>
            <a:endParaRPr lang="en-US"/>
          </a:p>
        </p:txBody>
      </p:sp>
      <p:sp>
        <p:nvSpPr>
          <p:cNvPr id="10" name="Text 8"/>
          <p:cNvSpPr/>
          <p:nvPr/>
        </p:nvSpPr>
        <p:spPr>
          <a:xfrm>
            <a:off x="1097280" y="3840480"/>
            <a:ext cx="6949440" cy="731520"/>
          </a:xfrm>
          <a:prstGeom prst="rect">
            <a:avLst/>
          </a:prstGeom>
          <a:noFill/>
          <a:ln/>
        </p:spPr>
        <p:txBody>
          <a:bodyPr wrap="square" rtlCol="0" anchor="ctr"/>
          <a:lstStyle/>
          <a:p>
            <a:pPr marL="0" indent="0" algn="ctr">
              <a:buNone/>
            </a:pPr>
            <a:r>
              <a:rPr lang="en-US" sz="1200" dirty="0">
                <a:solidFill>
                  <a:srgbClr val="FFFFFF"/>
                </a:solidFill>
                <a:latin typeface="Arial" pitchFamily="34" charset="0"/>
                <a:ea typeface="Arial" pitchFamily="34" charset="-122"/>
                <a:cs typeface="Arial" pitchFamily="34" charset="-120"/>
              </a:rPr>
              <a:t>Tầng 3 (Trên cùng): Chữ Đọc Nghệ Thuật (Text ShaderMask &amp; Drop Cap)</a:t>
            </a:r>
            <a:endParaRPr lang="en-US" sz="1200" dirty="0"/>
          </a:p>
          <a:p>
            <a:pPr marL="0" indent="0" algn="ctr">
              <a:buNone/>
            </a:pPr>
            <a:r>
              <a:rPr lang="en-US" sz="1200" dirty="0">
                <a:solidFill>
                  <a:srgbClr val="FFFFFF"/>
                </a:solidFill>
                <a:latin typeface="Arial" pitchFamily="34" charset="0"/>
                <a:ea typeface="Arial" pitchFamily="34" charset="-122"/>
                <a:cs typeface="Arial" pitchFamily="34" charset="-120"/>
              </a:rPr>
              <a:t>Hiển thị văn bản, dệt màu chữ thanh đậm bằng BlendMode.srcIn, nạp dynamic phông chữ.</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731520"/>
          </a:xfrm>
          <a:prstGeom prst="rect">
            <a:avLst/>
          </a:prstGeom>
          <a:noFill/>
          <a:ln/>
        </p:spPr>
        <p:txBody>
          <a:bodyPr wrap="square" rtlCol="0" anchor="ctr"/>
          <a:lstStyle/>
          <a:p>
            <a:pPr marL="0" indent="0">
              <a:buNone/>
            </a:pPr>
            <a:r>
              <a:rPr lang="en-US" sz="2200" b="1" dirty="0">
                <a:solidFill>
                  <a:srgbClr val="0F172A"/>
                </a:solidFill>
                <a:latin typeface="Arial" pitchFamily="34" charset="0"/>
                <a:ea typeface="Arial" pitchFamily="34" charset="-122"/>
                <a:cs typeface="Arial" pitchFamily="34" charset="-120"/>
              </a:rPr>
              <a:t>ĐỘNG CƠ HOẠT HỌA TOÁN HỌC TRONG CUSTOMPAINTER</a:t>
            </a:r>
            <a:endParaRPr lang="en-US" sz="2200" dirty="0"/>
          </a:p>
        </p:txBody>
      </p:sp>
      <p:sp>
        <p:nvSpPr>
          <p:cNvPr id="3" name="Shape 1"/>
          <p:cNvSpPr/>
          <p:nvPr/>
        </p:nvSpPr>
        <p:spPr>
          <a:xfrm>
            <a:off x="457200" y="1005840"/>
            <a:ext cx="1828800" cy="36576"/>
          </a:xfrm>
          <a:prstGeom prst="rect">
            <a:avLst/>
          </a:prstGeom>
          <a:solidFill>
            <a:srgbClr val="0F172A"/>
          </a:solidFill>
          <a:ln/>
        </p:spPr>
        <p:txBody>
          <a:bodyPr/>
          <a:lstStyle/>
          <a:p>
            <a:endParaRPr lang="en-US"/>
          </a:p>
        </p:txBody>
      </p:sp>
      <p:sp>
        <p:nvSpPr>
          <p:cNvPr id="4" name="Text 2"/>
          <p:cNvSpPr/>
          <p:nvPr/>
        </p:nvSpPr>
        <p:spPr>
          <a:xfrm>
            <a:off x="457200" y="1371600"/>
            <a:ext cx="8229600" cy="3657600"/>
          </a:xfrm>
          <a:prstGeom prst="rect">
            <a:avLst/>
          </a:prstGeom>
          <a:noFill/>
          <a:ln/>
        </p:spPr>
        <p:txBody>
          <a:bodyPr wrap="square" rtlCol="0" anchor="ctr"/>
          <a:lstStyle/>
          <a:p>
            <a:pPr marL="0" indent="0">
              <a:lnSpc>
                <a:spcPts val="2200"/>
              </a:lnSpc>
              <a:buNone/>
            </a:pPr>
            <a:r>
              <a:rPr lang="en-US" sz="1400" b="1" dirty="0">
                <a:solidFill>
                  <a:srgbClr val="0284C7"/>
                </a:solidFill>
                <a:latin typeface="Arial" pitchFamily="34" charset="0"/>
                <a:ea typeface="Arial" pitchFamily="34" charset="-122"/>
                <a:cs typeface="Arial" pitchFamily="34" charset="-120"/>
              </a:rPr>
              <a:t>• Hoạt họa lượng giác chìm: </a:t>
            </a:r>
            <a:r>
              <a:rPr lang="en-US" sz="1400" dirty="0">
                <a:solidFill>
                  <a:srgbClr val="334155"/>
                </a:solidFill>
                <a:latin typeface="Arial" pitchFamily="34" charset="0"/>
                <a:ea typeface="Arial" pitchFamily="34" charset="-122"/>
                <a:cs typeface="Arial" pitchFamily="34" charset="-120"/>
              </a:rPr>
              <a:t>Các hạt bong bóng, lá phong bay lắc lư theo đồ thị hàm Sin tuần hoàn: X = x + sin(θ) * driftSpeed. Giúp chuyển động sinh động tự nhiên như thật.
</a:t>
            </a:r>
            <a:r>
              <a:rPr lang="en-US" sz="1400" b="1" dirty="0">
                <a:solidFill>
                  <a:srgbClr val="0284C7"/>
                </a:solidFill>
                <a:latin typeface="Arial" pitchFamily="34" charset="0"/>
                <a:ea typeface="Arial" pitchFamily="34" charset="-122"/>
                <a:cs typeface="Arial" pitchFamily="34" charset="-120"/>
              </a:rPr>
              <a:t>• Bóng mờ khổng lồ (Giant Silhouette): </a:t>
            </a:r>
            <a:r>
              <a:rPr lang="en-US" sz="1400" dirty="0">
                <a:solidFill>
                  <a:srgbClr val="334155"/>
                </a:solidFill>
                <a:latin typeface="Arial" pitchFamily="34" charset="0"/>
                <a:ea typeface="Arial" pitchFamily="34" charset="-122"/>
                <a:cs typeface="Arial" pitchFamily="34" charset="-120"/>
              </a:rPr>
              <a:t>Vẽ Path hình học phức tạp (Cá voi, hải yến, lá phong quay tròn) tự động kích hoạt theo timer chu kỳ 20s-30s và lướt qua nền bằng cách tịnh tiến tọa độ.
</a:t>
            </a:r>
            <a:r>
              <a:rPr lang="en-US" sz="1400" b="1" dirty="0">
                <a:solidFill>
                  <a:srgbClr val="0284C7"/>
                </a:solidFill>
                <a:latin typeface="Arial" pitchFamily="34" charset="0"/>
                <a:ea typeface="Arial" pitchFamily="34" charset="-122"/>
                <a:cs typeface="Arial" pitchFamily="34" charset="-120"/>
              </a:rPr>
              <a:t>• Thuật toán tái chế hạt (Particle Recycling): </a:t>
            </a:r>
            <a:r>
              <a:rPr lang="en-US" sz="1400" dirty="0">
                <a:solidFill>
                  <a:srgbClr val="334155"/>
                </a:solidFill>
                <a:latin typeface="Arial" pitchFamily="34" charset="0"/>
                <a:ea typeface="Arial" pitchFamily="34" charset="-122"/>
                <a:cs typeface="Arial" pitchFamily="34" charset="-120"/>
              </a:rPr>
              <a:t>Khi hạt bay khuất khung nhìn của thiết bị, hệ thống lập tức tái chế đưa về vị trí xuất phát kèm thuộc tính X, tốc độ ngẫu nhiên mới. Tránh khởi tạo vật lý liên tục giúp giảm tải Garbage Collection và tiết kiệm bộ nhớ RAM tuyệt đối.</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731520"/>
          </a:xfrm>
          <a:prstGeom prst="rect">
            <a:avLst/>
          </a:prstGeom>
          <a:noFill/>
          <a:ln/>
        </p:spPr>
        <p:txBody>
          <a:bodyPr wrap="square" rtlCol="0" anchor="ctr"/>
          <a:lstStyle/>
          <a:p>
            <a:pPr marL="0" indent="0">
              <a:buNone/>
            </a:pPr>
            <a:r>
              <a:rPr lang="en-US" sz="2200" b="1" dirty="0">
                <a:solidFill>
                  <a:srgbClr val="0F172A"/>
                </a:solidFill>
                <a:latin typeface="Arial" pitchFamily="34" charset="0"/>
                <a:ea typeface="Arial" pitchFamily="34" charset="-122"/>
                <a:cs typeface="Arial" pitchFamily="34" charset="-120"/>
              </a:rPr>
              <a:t>GIẢI THUẬT DỆT GRADIENT CHỮ VÀ PHÒNG THỦ DỮ LIỆU</a:t>
            </a:r>
            <a:endParaRPr lang="en-US" sz="2200" dirty="0"/>
          </a:p>
        </p:txBody>
      </p:sp>
      <p:sp>
        <p:nvSpPr>
          <p:cNvPr id="3" name="Shape 1"/>
          <p:cNvSpPr/>
          <p:nvPr/>
        </p:nvSpPr>
        <p:spPr>
          <a:xfrm>
            <a:off x="457200" y="1005840"/>
            <a:ext cx="1828800" cy="36576"/>
          </a:xfrm>
          <a:prstGeom prst="rect">
            <a:avLst/>
          </a:prstGeom>
          <a:solidFill>
            <a:srgbClr val="0F172A"/>
          </a:solidFill>
          <a:ln/>
        </p:spPr>
        <p:txBody>
          <a:bodyPr/>
          <a:lstStyle/>
          <a:p>
            <a:endParaRPr lang="en-US"/>
          </a:p>
        </p:txBody>
      </p:sp>
      <p:sp>
        <p:nvSpPr>
          <p:cNvPr id="4" name="Text 2"/>
          <p:cNvSpPr/>
          <p:nvPr/>
        </p:nvSpPr>
        <p:spPr>
          <a:xfrm>
            <a:off x="457200" y="1371600"/>
            <a:ext cx="8229600" cy="3657600"/>
          </a:xfrm>
          <a:prstGeom prst="rect">
            <a:avLst/>
          </a:prstGeom>
          <a:noFill/>
          <a:ln/>
        </p:spPr>
        <p:txBody>
          <a:bodyPr wrap="square" rtlCol="0" anchor="ctr"/>
          <a:lstStyle/>
          <a:p>
            <a:pPr marL="0" indent="0">
              <a:lnSpc>
                <a:spcPts val="2200"/>
              </a:lnSpc>
              <a:buNone/>
            </a:pPr>
            <a:r>
              <a:rPr lang="en-US" sz="1400" b="1" dirty="0">
                <a:solidFill>
                  <a:srgbClr val="EA580C"/>
                </a:solidFill>
                <a:latin typeface="Arial" pitchFamily="34" charset="0"/>
                <a:ea typeface="Arial" pitchFamily="34" charset="-122"/>
                <a:cs typeface="Arial" pitchFamily="34" charset="-120"/>
              </a:rPr>
              <a:t>• Dệt màu chữ Gradient (ShaderMask Blending): </a:t>
            </a:r>
            <a:r>
              <a:rPr lang="en-US" sz="1400" dirty="0">
                <a:solidFill>
                  <a:srgbClr val="334155"/>
                </a:solidFill>
                <a:latin typeface="Arial" pitchFamily="34" charset="0"/>
                <a:ea typeface="Arial" pitchFamily="34" charset="-122"/>
                <a:cs typeface="Arial" pitchFamily="34" charset="-120"/>
              </a:rPr>
              <a:t>Kết hợp ShaderMask và BlendMode.srcIn để màu sắc dải màu dệt khít khao biên dạng nét chữ thanh đậm. Sử dụng Text tĩnh khóa thao tác chọn bôi đen mất thẩm mỹ.
</a:t>
            </a:r>
            <a:r>
              <a:rPr lang="en-US" sz="1400" b="1" dirty="0">
                <a:solidFill>
                  <a:srgbClr val="EA580C"/>
                </a:solidFill>
                <a:latin typeface="Arial" pitchFamily="34" charset="0"/>
                <a:ea typeface="Arial" pitchFamily="34" charset="-122"/>
                <a:cs typeface="Arial" pitchFamily="34" charset="-120"/>
              </a:rPr>
              <a:t>• Nạp phông chữ động (Dynamic Google Fonts): </a:t>
            </a:r>
            <a:r>
              <a:rPr lang="en-US" sz="1400" dirty="0">
                <a:solidFill>
                  <a:srgbClr val="334155"/>
                </a:solidFill>
                <a:latin typeface="Arial" pitchFamily="34" charset="0"/>
                <a:ea typeface="Arial" pitchFamily="34" charset="-122"/>
                <a:cs typeface="Arial" pitchFamily="34" charset="-120"/>
              </a:rPr>
              <a:t>Gọi hàm động GoogleFonts.getFont() trực tiếp từ bộ nhớ đệm hoặc mạng lưới Google Fonts, hỗ trợ đổi phông (Lora, Merriweather, Quicksand) thời gian thực mà không làm nặng file APK cài đặt.
</a:t>
            </a:r>
            <a:r>
              <a:rPr lang="en-US" sz="1400" b="1" dirty="0">
                <a:solidFill>
                  <a:srgbClr val="EA580C"/>
                </a:solidFill>
                <a:latin typeface="Arial" pitchFamily="34" charset="0"/>
                <a:ea typeface="Arial" pitchFamily="34" charset="-122"/>
                <a:cs typeface="Arial" pitchFamily="34" charset="-120"/>
              </a:rPr>
              <a:t>• Phân giải đường dẫn đúp: </a:t>
            </a:r>
            <a:r>
              <a:rPr lang="en-US" sz="1400" dirty="0">
                <a:solidFill>
                  <a:srgbClr val="334155"/>
                </a:solidFill>
                <a:latin typeface="Arial" pitchFamily="34" charset="0"/>
                <a:ea typeface="Arial" pitchFamily="34" charset="-122"/>
                <a:cs typeface="Arial" pitchFamily="34" charset="-120"/>
              </a:rPr>
              <a:t>Try-catch lỗi tải tập tin .txt và tự hoán đổi hậu tố tên tệp tin (ngo-dong-chuong- vs ngo-ngo-dong-chuong-) để tìm kiếm dự phòng, đảm bảo ứng dụng không bao giờ bị crash đột ngột.</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876</Words>
  <Application>Microsoft Office PowerPoint</Application>
  <PresentationFormat>On-screen Show (16:9)</PresentationFormat>
  <Paragraphs>28</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Minh Nguyen Nhat</cp:lastModifiedBy>
  <cp:revision>1</cp:revision>
  <dcterms:created xsi:type="dcterms:W3CDTF">2026-06-29T09:05:09Z</dcterms:created>
  <dcterms:modified xsi:type="dcterms:W3CDTF">2026-06-29T09:07:06Z</dcterms:modified>
</cp:coreProperties>
</file>